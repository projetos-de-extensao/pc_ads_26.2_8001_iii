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de cerca de 5 minutos. O Apollo é uma plataforma que recebe as respostas de um aluno a uma prova do ENEM, corrige automaticamente e estima a nota por área de conhecimento usando TRI. Esta apresentação presta contas dos quatro artefatos das fases de Iniciação e Elaboração: Documento de Visão, Casos de Uso Arquiteturais, Modelo de Análise de Segurança e Diagrama de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simulado tradicional entrega a lista de acerto e erro e a nota final, mas não diz qual competência o aluno deve estudar a seguir. O Apollo também exibe a lista de questões erradas com o gabarito correto, como o escopo do Documento de Visão prevê, mas não para aí: classifica cada erro por competência e estima a nota por área via TRI, a metodologia do INEP, o que orienta o estudo. É uma estimativa, não a nota oficial: quando os parâmetros do item não estão disponíveis, o motor usa calibração piecewise.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fluxo: o aluno escolhe a área e envia as 45 respostas. API Gateway e Lambda recebem, validam e processam a submissão. O EngineTRI corrige as respostas, estima a nota TRI da área e classifica os erros por competência. O resultado é gravado e o dashboard mostra nota estimada, acertos, erros e brancos, a lista de questões erradas com o gabarito correto e as áreas a melhorar. Serviços AWS: EC2 com a API Django, RDS PostgreSQL para dados relacionais e resultados, S3 para o frontend, Secrets Manager e CloudWatch. O escopo é deliberadamente enxuto, priorizando o Free Tier, para caber no contexto acadêmico. É decisão de projeto, não limitação escondida. O motor de correção já está pronto, com as provas de 2025 preparadas.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Documento de Visão segue as oito seções do roteiro da disciplina, incluindo posicionamento, partes interessadas, arquitetura, restrições e atributos de qualidade. Três números ancoram o documento: resultado em até 5 segundos após o envio, orçamento máximo de 1.500 dólares por mês, com custo real esperado entre 80 e 150, e prazo de 20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sete casos de uso formam uma sequência lógica de construção da infraestrutura: rede, segurança, serviços gerenciados, conectividade, monitoramento, deploy e, por fim, governança. O sétimo é Políticas de Segurança e Governança.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de Análise de Segurança tem seis pacotes: Identity and Access, Network Security, Data Protection, Secrets Management, Audit and Compliance e Monitoring and Detection. Secrets Management e Audit and Compliance foram desmembrados de um pacote único. Monitoring and Detection deixou de ser evolução futura e virou pacote ativo, com CloudWatch. Isso mostra evolução de maturidade do modelo, não um reforço de última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Esquema conceitual das oito classes do domínio: Aluno, EdicaoEnem, AreaConhecimento, Questao, ParametroItem, Submissao, RespostaInformada e Resultado. O diagrama UML técnico completo está no documento escrito. Conectando ao fluxo da arquitetura: é esse modelo que o EngineTRI opera. Ele lê as respostas informadas e os parâmetros do item e grava o resultado. O EngineTRI também classifica os erros por competência, como mostra o diagrama de especificação no documento escrito.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os quatro artefatos das fases de Iniciação e Elaboração (Documento de Visão, Casos de Uso Arquiteturais, Modelo de Análise de Segurança e Diagrama de Classes) estão elaborados e estruturalmente alinhados ao roteiro da disciplina. O escopo e o custo foram simplificados de propósito para o contexto acadêmico. Abrir para perguntas. Além dos artefatos, já temos um motor de correção funcionando com as provas de 2025 preparadas.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400" kern="0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0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Apollo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Desempenho no ENEM via TRI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5623560"/>
            <a:ext cx="10728655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852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Maurity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3240" y="5852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Casanovas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5852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Miller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26680" y="5852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Jesus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31375" y="5852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24/09/2026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· SIMULADO TRADICIONAL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724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5B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acerto e erro e nota final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43584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vê o que errou e a nota, mas não sabe qual competência estudar em seguida.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35928" y="173736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35928" y="2194560"/>
            <a:ext cx="4724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mesmos erros, classificados por competência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735928" y="4572000"/>
            <a:ext cx="4358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questões erradas com gabarito, como no simulado. Além dela, a nota por área estimada via TRI indica onde estudar.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72865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UMA SUBMISSÃO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produto e arquitetura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0728655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68296"/>
            <a:ext cx="109728" cy="109728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51760"/>
            <a:ext cx="244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ENTRADA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2442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Aluno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23506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as respostas de uma prova do ENEM.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93694" y="2368296"/>
            <a:ext cx="109728" cy="109728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694" y="2651760"/>
            <a:ext cx="244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PROCESSAMENTO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93694" y="2971800"/>
            <a:ext cx="2442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+ Lambda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93694" y="3749040"/>
            <a:ext cx="23506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Recebem, validam e processam a submissão.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55868" y="2368296"/>
            <a:ext cx="109728" cy="109728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5868" y="2651760"/>
            <a:ext cx="244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CÁLCULO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5868" y="2971800"/>
            <a:ext cx="2442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EngineTRI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55868" y="3749040"/>
            <a:ext cx="23506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Corrige, estima a nota TRI da área e classifica os erros por competência.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18041" y="2368296"/>
            <a:ext cx="109728" cy="109728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18041" y="2651760"/>
            <a:ext cx="244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SAÍDA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18041" y="2971800"/>
            <a:ext cx="2442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18041" y="3749040"/>
            <a:ext cx="23506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estimada, acertos, erros, brancos, erradas com gabarito e áreas a melhorar.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AWS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892040"/>
            <a:ext cx="1962851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02920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" y="534924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Django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877251" y="4892040"/>
            <a:ext cx="1962851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77251" y="502920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877251" y="534924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relacionais e resultados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2982" y="4892040"/>
            <a:ext cx="1962851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2982" y="502920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2982" y="534924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168713" y="4892040"/>
            <a:ext cx="1962851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68713" y="502920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168713" y="534924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314444" y="4892040"/>
            <a:ext cx="1962851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14444" y="502920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314444" y="534924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31520" y="594360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enxuto, priorizando o Free Tier. Decisão de projeto, não limitação.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1520" y="6263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correção já pronto, com as provas de 2025 preparadas.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72865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1 DE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</a:t>
            </a:r>
            <a:endParaRPr lang="en-US" sz="5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Visão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8 seções, conforme o roteiro da disciplina.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4480560"/>
            <a:ext cx="4754880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44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855464"/>
            <a:ext cx="4754880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919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interessadas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230368"/>
            <a:ext cx="4754880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294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605272"/>
            <a:ext cx="4754880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669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5980176"/>
            <a:ext cx="4754880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6044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qualidade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49440" y="1188720"/>
            <a:ext cx="4510735" cy="0"/>
          </a:xfrm>
          <a:prstGeom prst="line">
            <a:avLst/>
          </a:prstGeom>
          <a:noFill/>
          <a:ln w="12700">
            <a:solidFill>
              <a:srgbClr val="1B1E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371600"/>
            <a:ext cx="4510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                <a:t>&lt; 1,5 s</a:t>
                lt; 1,5 s
              </a:t>
            </a:r>
            <a:endParaRPr lang="en-US" sz="5800" dirty="0"/>
          </a:p>
        </p:txBody>
      </p:sp>
      <p:sp>
        <p:nvSpPr>
          <p:cNvPr id="21" name="Text 19"/>
          <p:cNvSpPr/>
          <p:nvPr/>
        </p:nvSpPr>
        <p:spPr>
          <a:xfrm>
            <a:off x="6949440" y="2350008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ATÉ O RESULTADO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880360"/>
            <a:ext cx="4510735" cy="0"/>
          </a:xfrm>
          <a:prstGeom prst="line">
            <a:avLst/>
          </a:prstGeom>
          <a:noFill/>
          <a:ln w="12700">
            <a:solidFill>
              <a:srgbClr val="1B1E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063240"/>
            <a:ext cx="4510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US$ 100</a:t>
            </a:r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5B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/mês</a:t>
            </a:r>
            <a:endParaRPr lang="en-US" sz="5800" dirty="0"/>
          </a:p>
        </p:txBody>
      </p:sp>
      <p:sp>
        <p:nvSpPr>
          <p:cNvPr id="24" name="Text 22"/>
          <p:cNvSpPr/>
          <p:nvPr/>
        </p:nvSpPr>
        <p:spPr>
          <a:xfrm>
            <a:off x="6949440" y="4041648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MÁXIMO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4572000"/>
            <a:ext cx="4510735" cy="0"/>
          </a:xfrm>
          <a:prstGeom prst="line">
            <a:avLst/>
          </a:prstGeom>
          <a:noFill/>
          <a:ln w="12700">
            <a:solidFill>
              <a:srgbClr val="1B1E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4754880"/>
            <a:ext cx="4510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5B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semanas</a:t>
            </a:r>
            <a:endParaRPr lang="en-US" sz="5800" dirty="0"/>
          </a:p>
        </p:txBody>
      </p:sp>
      <p:sp>
        <p:nvSpPr>
          <p:cNvPr id="27" name="Text 25"/>
          <p:cNvSpPr/>
          <p:nvPr/>
        </p:nvSpPr>
        <p:spPr>
          <a:xfrm>
            <a:off x="6949440" y="5733288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DO PROJETO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72865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2 DE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4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 Arquiteturais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dirty="0">
                <a:solidFill>
                  <a:srgbClr val="A94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em ordem de construção da infraestrutura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0" y="1188720"/>
            <a:ext cx="5790895" cy="0"/>
          </a:xfrm>
          <a:prstGeom prst="line">
            <a:avLst/>
          </a:prstGeom>
          <a:noFill/>
          <a:ln w="12700">
            <a:solidFill>
              <a:srgbClr val="1B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4081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269480" y="1371600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69280" y="1847088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0665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69480" y="2029968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669280" y="2505456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724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69480" y="2688336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Serviços Gerenciados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669280" y="3163824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3832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69480" y="3346704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Conectividade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669280" y="3822192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40416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69480" y="3913632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Monitoramento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269480" y="4215384"/>
            <a:ext cx="4190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alarmes via CloudWatch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0" y="4480560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47000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69480" y="4572000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269480" y="4873752"/>
            <a:ext cx="4190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com testes automatizados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0" y="5138928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5358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UC-ARQ-007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69480" y="5321808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 de Segurança e Governança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5669280" y="5797296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72865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3 DE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4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Análise de Segurança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dirty="0">
                <a:solidFill>
                  <a:srgbClr val="A94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de segurança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0" y="1188720"/>
            <a:ext cx="2712568" cy="0"/>
          </a:xfrm>
          <a:prstGeom prst="line">
            <a:avLst/>
          </a:prstGeom>
          <a:noFill/>
          <a:ln w="12700">
            <a:solidFill>
              <a:srgbClr val="1B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389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Access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747608" y="1188720"/>
            <a:ext cx="2712568" cy="0"/>
          </a:xfrm>
          <a:prstGeom prst="line">
            <a:avLst/>
          </a:prstGeom>
          <a:noFill/>
          <a:ln w="12700">
            <a:solidFill>
              <a:srgbClr val="1B1E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47608" y="1389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47608" y="1691640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Security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669280" y="2761488"/>
            <a:ext cx="2712568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9626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0" y="3264408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747608" y="2761488"/>
            <a:ext cx="2712568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47608" y="29626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47608" y="3264408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Management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747608" y="3721608"/>
            <a:ext cx="2621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Desmembrado de um pacote único.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4334256"/>
            <a:ext cx="2712568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4535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0" y="4837176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Compliance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0" y="5294376"/>
            <a:ext cx="2621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Desmembrado de um pacote único.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47608" y="4334256"/>
            <a:ext cx="2712568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47608" y="4535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47608" y="4837176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Detection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747608" y="5294376"/>
            <a:ext cx="2621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evolução futura, agora pacote ativo com CloudWatch.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72865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4 DE 4 · MODELO DE DOMÍNIO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Classes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0574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50545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53288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nome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email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dataCadastro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210312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1031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Submissao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11880" y="250545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25328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dataEnvio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210312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031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RespostaInformada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250545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25328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alternativaEscolhida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correta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72600" y="210312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1031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EdicaoEnem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372600" y="250545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0616" y="25328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ano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descricao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3840480"/>
            <a:ext cx="2057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84048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11880" y="424281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4270248"/>
            <a:ext cx="1874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notaTri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acertos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erros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dataCalculo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840480"/>
            <a:ext cx="20574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84048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424281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0256" y="427024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numero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enunciadoRef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gabarito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72600" y="3840480"/>
            <a:ext cx="20574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384048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ParametroItem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72600" y="424281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0616" y="427024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discriminacao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dificuldade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acaso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52060" y="553212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52060" y="55321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AreaConhecimento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052060" y="593445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0076" y="59618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sigla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nome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88920" y="2651760"/>
            <a:ext cx="822960" cy="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40" name="Text 38"/>
          <p:cNvSpPr/>
          <p:nvPr/>
        </p:nvSpPr>
        <p:spPr>
          <a:xfrm>
            <a:off x="2807208" y="2377440"/>
            <a:ext cx="786384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 1..*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0" y="2651760"/>
            <a:ext cx="822960" cy="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42" name="Text 40"/>
          <p:cNvSpPr/>
          <p:nvPr/>
        </p:nvSpPr>
        <p:spPr>
          <a:xfrm>
            <a:off x="5687568" y="2377440"/>
            <a:ext cx="786384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  1..*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 flipV="1">
            <a:off x="4640580" y="1847088"/>
            <a:ext cx="0" cy="256032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40580" y="1847088"/>
            <a:ext cx="5760720" cy="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01300" y="1847088"/>
            <a:ext cx="0" cy="256032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46" name="Text 44"/>
          <p:cNvSpPr/>
          <p:nvPr/>
        </p:nvSpPr>
        <p:spPr>
          <a:xfrm>
            <a:off x="6972300" y="1755648"/>
            <a:ext cx="1097280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refere-se a  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40580" y="3108960"/>
            <a:ext cx="0" cy="73152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48" name="Text 46"/>
          <p:cNvSpPr/>
          <p:nvPr/>
        </p:nvSpPr>
        <p:spPr>
          <a:xfrm>
            <a:off x="4695444" y="3383280"/>
            <a:ext cx="731520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 1..*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20940" y="3108960"/>
            <a:ext cx="0" cy="73152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50" name="Text 48"/>
          <p:cNvSpPr/>
          <p:nvPr/>
        </p:nvSpPr>
        <p:spPr>
          <a:xfrm>
            <a:off x="7575804" y="3383280"/>
            <a:ext cx="822960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 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 flipV="1">
            <a:off x="8275320" y="3108960"/>
            <a:ext cx="1371600" cy="73152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52" name="Text 50"/>
          <p:cNvSpPr/>
          <p:nvPr/>
        </p:nvSpPr>
        <p:spPr>
          <a:xfrm>
            <a:off x="8275320" y="3246120"/>
            <a:ext cx="914400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 a  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549640" y="4389120"/>
            <a:ext cx="822960" cy="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54" name="Text 52"/>
          <p:cNvSpPr/>
          <p:nvPr/>
        </p:nvSpPr>
        <p:spPr>
          <a:xfrm>
            <a:off x="8567928" y="4114800"/>
            <a:ext cx="786384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  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40580" y="5321808"/>
            <a:ext cx="0" cy="667512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40580" y="5989320"/>
            <a:ext cx="411480" cy="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57" name="Text 55"/>
          <p:cNvSpPr/>
          <p:nvPr/>
        </p:nvSpPr>
        <p:spPr>
          <a:xfrm>
            <a:off x="3497580" y="5532120"/>
            <a:ext cx="1078992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 por  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520940" y="5084064"/>
            <a:ext cx="0" cy="905256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7109460" y="5989320"/>
            <a:ext cx="411480" cy="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60" name="Text 58"/>
          <p:cNvSpPr/>
          <p:nvPr/>
        </p:nvSpPr>
        <p:spPr>
          <a:xfrm>
            <a:off x="7575804" y="5532120"/>
            <a:ext cx="1188720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classificada em  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3152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A94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600" dirty="0"/>
          </a:p>
        </p:txBody>
      </p:sp>
      <p:sp>
        <p:nvSpPr>
          <p:cNvPr id="62" name="Text 60"/>
          <p:cNvSpPr/>
          <p:nvPr/>
        </p:nvSpPr>
        <p:spPr>
          <a:xfrm>
            <a:off x="731520" y="5349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conceituais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domínio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728655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INICIAÇÃO E ELABORAÇÃO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pronto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5669280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523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7523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Visão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227832"/>
            <a:ext cx="5669280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74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3741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Arquiteturais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3849624"/>
            <a:ext cx="5669280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95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9959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Análise de Segurança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471416"/>
            <a:ext cx="5669280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617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Classes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31520" y="5093208"/>
            <a:ext cx="5669280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09728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0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0" dirty="0"/>
          </a:p>
        </p:txBody>
      </p:sp>
      <p:sp>
        <p:nvSpPr>
          <p:cNvPr id="21" name="Text 19"/>
          <p:cNvSpPr/>
          <p:nvPr/>
        </p:nvSpPr>
        <p:spPr>
          <a:xfrm>
            <a:off x="932688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A9AD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artefatos</a:t>
            </a:r>
            <a:endParaRPr lang="en-US" sz="2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A9AD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elaborados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23760" y="4160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PRONTO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23760" y="446227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correção com as provas de 2025 preparadas.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1520" y="5440680"/>
            <a:ext cx="10728655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6692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Alinhados à estrutura do roteiro da disciplina, com escopo e custo conscientemente simplificados para o contexto acadêmico.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53935" y="5577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Apollo — Análise de Desempenho no ENEM via TRI</dc:title>
  <dc:subject>PptxGenJS Presentation</dc:subject>
  <dc:creator>Arthur Maurity, Bernardo Casanovas, Bernardo Miller, Lucas Jesus</dc:creator>
  <cp:lastModifiedBy>Arthur Maurity, Bernardo Casanovas, Bernardo Miller, Lucas Jesus</cp:lastModifiedBy>
  <cp:revision>1</cp:revision>
  <dcterms:created xsi:type="dcterms:W3CDTF">2026-09-24T14:27:50Z</dcterms:created>
  <dcterms:modified xsi:type="dcterms:W3CDTF">2026-09-24T14:27:50Z</dcterms:modified>
</cp:coreProperties>
</file>